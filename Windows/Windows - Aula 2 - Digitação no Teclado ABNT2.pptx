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848831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260840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55614" name="Google Shape;51;p:notes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326190" name="Google Shape;52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091137" name="Google Shape;57;g3460c252616_0_1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274271" name="Google Shape;58;g3460c252616_0_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141920" name="Google Shape;57;g3460c252616_0_1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280722" name="Google Shape;58;g3460c252616_0_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902571" name="Google Shape;57;g3460c252616_0_1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419819" name="Google Shape;58;g3460c252616_0_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810616" name="Google Shape;57;g3460c252616_0_1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584721" name="Google Shape;58;g3460c252616_0_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04362" name="Google Shape;71;g3460c252616_0_1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010245" name="Google Shape;72;g3460c252616_0_1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721088" name="Google Shape;78;g3460c252616_0_2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752118" name="Google Shape;79;g3460c252616_0_2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915449" name="Google Shape;85;g3460c252616_0_3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791619" name="Google Shape;86;g3460c252616_0_3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593486" name="Google Shape;92;g3460c252616_0_3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38815" name="Google Shape;93;g3460c252616_0_3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498082" name="Google Shape;92;g3460c252616_0_39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814645" name="Google Shape;93;g3460c252616_0_3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418480" name="Google Shape;106;g3460c252616_0_4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506703" name="Google Shape;107;g3460c252616_0_4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229181" name="Google Shape;113;g3460c252616_0_5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304928" name="Google Shape;114;g3460c252616_0_5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024399" name="Google Shape;120;g34d75b77165_0_1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863560" name="Google Shape;121;g34d75b77165_0_1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309734" name="Google Shape;126;g34d75b77165_0_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471472" name="Google Shape;127;g34d75b77165_0_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614821" name="Google Shape;132;g34d75b77165_0_1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183521" name="Google Shape;133;g34d75b77165_0_1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379488" name="Google Shape;138;g34d75b77165_0_3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377263" name="Google Shape;139;g34d75b77165_0_3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87267" name="Google Shape;144;g34d75b77165_0_3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350590" name="Google Shape;145;g34d75b77165_0_3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96937" name="Google Shape;150;g34d75b77165_0_4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446099" name="Google Shape;151;g34d75b77165_0_4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341187" name="Google Shape;156;g34d75b77165_0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495927" name="Google Shape;157;g34d75b77165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951288" name="Google Shape;162;g34d75b77165_0_2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85302" name="Google Shape;163;g34d75b77165_0_2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534281" name="Google Shape;168;g34d75b77165_0_2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154344" name="Google Shape;169;g34d75b77165_0_2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859664" name="Google Shape;10;p2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002722972" name="Google Shape;11;p2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541786325" name="Google Shape;12;p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841965" name="Google Shape;14;p3"/>
          <p:cNvSpPr txBox="1"/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272337172" name="Google Shape;15;p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251918" name="Google Shape;17;p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5124449" name="Google Shape;18;p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1908031" name="Google Shape;19;p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892180" name="Google Shape;21;p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8637303" name="Google Shape;22;p5"/>
          <p:cNvSpPr txBox="1"/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493890325" name="Google Shape;23;p5"/>
          <p:cNvSpPr txBox="1"/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516602515" name="Google Shape;24;p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016507" name="Google Shape;26;p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0871325" name="Google Shape;27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141927" name="Google Shape;29;p7"/>
          <p:cNvSpPr txBox="1"/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749072680" name="Google Shape;30;p7"/>
          <p:cNvSpPr txBox="1"/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903885798" name="Google Shape;31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484247" name="Google Shape;33;p8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650508662" name="Google Shape;34;p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812128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6939701" name="Google Shape;37;p9"/>
          <p:cNvSpPr txBox="1"/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676157825" name="Google Shape;38;p9"/>
          <p:cNvSpPr txBox="1"/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001431124" name="Google Shape;39;p9"/>
          <p:cNvSpPr txBox="1"/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2946209" name="Google Shape;40;p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438701" name="Google Shape;42;p10"/>
          <p:cNvSpPr txBox="1"/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91458944" name="Google Shape;43;p1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885475" name="Google Shape;45;p11"/>
          <p:cNvSpPr txBox="1"/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611158557" name="Google Shape;46;p11"/>
          <p:cNvSpPr txBox="1"/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4664662" name="Google Shape;47;p1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573663" name="Google Shape;49;p1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064612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52217773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56493921" name="Google Shape;8;p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691818" name="Google Shape;54;p13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861024" y="817338"/>
            <a:ext cx="7421975" cy="4326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1775169" name="Google Shape;55;p13"/>
          <p:cNvSpPr txBox="1"/>
          <p:nvPr/>
        </p:nvSpPr>
        <p:spPr bwMode="auto">
          <a:xfrm>
            <a:off x="180500" y="200850"/>
            <a:ext cx="372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Posicionamento e Teclas Básicas</a:t>
            </a:r>
            <a:endParaRPr sz="2200">
              <a:solidFill>
                <a:srgbClr val="D9D9D9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466759" name="Google Shape;60;p14"/>
          <p:cNvSpPr txBox="1"/>
          <p:nvPr>
            <p:ph type="body" idx="1"/>
          </p:nvPr>
        </p:nvSpPr>
        <p:spPr bwMode="auto">
          <a:xfrm>
            <a:off x="311700" y="2286000"/>
            <a:ext cx="8520600" cy="22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199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q w e r t y u i o p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582230263" name="Google Shape;61;p14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4" y="0"/>
            <a:ext cx="4102475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215798791" name="Google Shape;62;p14"/>
          <p:cNvSpPr txBox="1"/>
          <p:nvPr/>
        </p:nvSpPr>
        <p:spPr bwMode="auto">
          <a:xfrm>
            <a:off x="180500" y="200850"/>
            <a:ext cx="372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Posicionamento e Teclas Básicas</a:t>
            </a:r>
            <a:endParaRPr sz="2200">
              <a:solidFill>
                <a:srgbClr val="D9D9D9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601992" name="Google Shape;60;p14"/>
          <p:cNvSpPr txBox="1"/>
          <p:nvPr>
            <p:ph type="body" idx="1"/>
          </p:nvPr>
        </p:nvSpPr>
        <p:spPr bwMode="auto">
          <a:xfrm>
            <a:off x="311699" y="2286000"/>
            <a:ext cx="8520599" cy="22829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199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 s d f g h j k l ç</a:t>
            </a:r>
            <a:endParaRPr lang="pt-BR"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914669296" name="Google Shape;61;p14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3" y="0"/>
            <a:ext cx="4102474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8454706" name="Google Shape;62;p14"/>
          <p:cNvSpPr txBox="1"/>
          <p:nvPr/>
        </p:nvSpPr>
        <p:spPr bwMode="auto">
          <a:xfrm>
            <a:off x="180499" y="200849"/>
            <a:ext cx="3729899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399"/>
              </a:spcBef>
              <a:spcAft>
                <a:spcPts val="398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Posicionamento e Teclas Básicas</a:t>
            </a:r>
            <a:endParaRPr sz="2200">
              <a:solidFill>
                <a:srgbClr val="D9D9D9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998174" name="Google Shape;60;p14"/>
          <p:cNvSpPr txBox="1"/>
          <p:nvPr>
            <p:ph type="body" idx="1"/>
          </p:nvPr>
        </p:nvSpPr>
        <p:spPr bwMode="auto">
          <a:xfrm>
            <a:off x="311699" y="2286000"/>
            <a:ext cx="8520599" cy="22829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199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z x c v b n m</a:t>
            </a:r>
            <a:endParaRPr lang="pt-BR"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874433286" name="Google Shape;61;p14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3" y="0"/>
            <a:ext cx="4102474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735282" name="Google Shape;62;p14"/>
          <p:cNvSpPr txBox="1"/>
          <p:nvPr/>
        </p:nvSpPr>
        <p:spPr bwMode="auto">
          <a:xfrm>
            <a:off x="180499" y="200849"/>
            <a:ext cx="3729899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399"/>
              </a:spcBef>
              <a:spcAft>
                <a:spcPts val="398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Posicionamento e Teclas Básicas</a:t>
            </a:r>
            <a:endParaRPr sz="2200">
              <a:solidFill>
                <a:srgbClr val="D9D9D9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346405" name="Google Shape;60;p14"/>
          <p:cNvSpPr txBox="1"/>
          <p:nvPr>
            <p:ph type="body" idx="1"/>
          </p:nvPr>
        </p:nvSpPr>
        <p:spPr bwMode="auto">
          <a:xfrm>
            <a:off x="311699" y="2286000"/>
            <a:ext cx="8520599" cy="2282999"/>
          </a:xfrm>
          <a:prstGeom prst="rect">
            <a:avLst/>
          </a:prstGeo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199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céu </a:t>
            </a:r>
            <a:r>
              <a:rPr lang="pt-BR" sz="3600" b="0" i="0" u="none" strike="noStrike" cap="none" spc="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às 17h;</a:t>
            </a:r>
            <a:endParaRPr lang="pt-BR" sz="36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1199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 Eu, mamãe  e você;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450114502" name="Google Shape;61;p14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3" y="0"/>
            <a:ext cx="4102474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963026012" name="Google Shape;62;p14"/>
          <p:cNvSpPr txBox="1"/>
          <p:nvPr/>
        </p:nvSpPr>
        <p:spPr bwMode="auto">
          <a:xfrm>
            <a:off x="180499" y="200849"/>
            <a:ext cx="3729899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399"/>
              </a:spcBef>
              <a:spcAft>
                <a:spcPts val="399"/>
              </a:spcAft>
              <a:buNone/>
              <a:defRPr/>
            </a:pPr>
            <a:r>
              <a:rPr lang="pt-BR" sz="2200" b="0" i="0" u="none" strike="noStrike" cap="none" spc="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Acentuação e Cedilha (´ ` ^ ~ ç)</a:t>
            </a:r>
            <a:endParaRPr sz="2200">
              <a:solidFill>
                <a:srgbClr val="D9D9D9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9988" name="Google Shape;74;p16"/>
          <p:cNvSpPr txBox="1"/>
          <p:nvPr>
            <p:ph type="body" idx="1"/>
          </p:nvPr>
        </p:nvSpPr>
        <p:spPr bwMode="auto">
          <a:xfrm>
            <a:off x="311700" y="2391274"/>
            <a:ext cx="8520600" cy="2177700"/>
          </a:xfrm>
          <a:prstGeom prst="rect">
            <a:avLst/>
          </a:prstGeo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 fontScale="70000" lnSpcReduction="6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É fácil tomar café às manhãs.</a:t>
            </a:r>
            <a:endParaRPr sz="36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avô gosta de feijão com pão.</a:t>
            </a:r>
            <a:endParaRPr sz="36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 baía e o açaí são do Brasil.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921362613" name="Google Shape;75;p16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4" y="0"/>
            <a:ext cx="4102475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991843159" name="Google Shape;76;p16"/>
          <p:cNvSpPr txBox="1"/>
          <p:nvPr/>
        </p:nvSpPr>
        <p:spPr bwMode="auto">
          <a:xfrm>
            <a:off x="180500" y="200850"/>
            <a:ext cx="372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Acentuação e Cedilha (´ ` ^ ~ ç)</a:t>
            </a:r>
            <a:endParaRPr sz="2200">
              <a:solidFill>
                <a:srgbClr val="D9D9D9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126926" name="Google Shape;81;p17"/>
          <p:cNvSpPr txBox="1"/>
          <p:nvPr>
            <p:ph type="body" idx="1"/>
          </p:nvPr>
        </p:nvSpPr>
        <p:spPr bwMode="auto">
          <a:xfrm>
            <a:off x="311700" y="2391274"/>
            <a:ext cx="8520600" cy="21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maçã, açúcar, ônibus, 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incrível, café, violão.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285951236" name="Google Shape;82;p17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4" y="0"/>
            <a:ext cx="4102475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1847307" name="Google Shape;83;p17"/>
          <p:cNvSpPr txBox="1"/>
          <p:nvPr/>
        </p:nvSpPr>
        <p:spPr bwMode="auto">
          <a:xfrm>
            <a:off x="180500" y="200850"/>
            <a:ext cx="372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Acentuação e Cedilha (´ ` ^ ~ ç)</a:t>
            </a:r>
            <a:endParaRPr sz="2200">
              <a:solidFill>
                <a:srgbClr val="D9D9D9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16303" name="Google Shape;88;p18"/>
          <p:cNvSpPr txBox="1"/>
          <p:nvPr>
            <p:ph type="body" idx="1"/>
          </p:nvPr>
        </p:nvSpPr>
        <p:spPr bwMode="auto">
          <a:xfrm>
            <a:off x="311700" y="2391274"/>
            <a:ext cx="8520600" cy="21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Onde está você? Estou esperando há 10 minutos!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Atenção: amanhã haverá prova de Matemática.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Olá, como vai? Tudo bem, obrigado!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39810400" name="Google Shape;89;p18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4" y="0"/>
            <a:ext cx="4102475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635197743" name="Google Shape;90;p18"/>
          <p:cNvSpPr txBox="1"/>
          <p:nvPr/>
        </p:nvSpPr>
        <p:spPr bwMode="auto">
          <a:xfrm>
            <a:off x="180500" y="200850"/>
            <a:ext cx="372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Pontuação e Caracteres Especiais (. , ; : ! ? - )</a:t>
            </a:r>
            <a:endParaRPr sz="2700">
              <a:solidFill>
                <a:schemeClr val="dk2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779978" name="Google Shape;95;p19"/>
          <p:cNvSpPr txBox="1"/>
          <p:nvPr>
            <p:ph type="body" idx="1"/>
          </p:nvPr>
        </p:nvSpPr>
        <p:spPr bwMode="auto">
          <a:xfrm flipH="0" flipV="0">
            <a:off x="311699" y="1587499"/>
            <a:ext cx="8520599" cy="3373437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t" anchorCtr="0" forceAA="0" upright="0" compatLnSpc="0">
            <a:normAutofit fontScale="75000" lnSpcReduction="5000"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R$ 150,00 – 20% de desconto!</a:t>
            </a:r>
            <a:endParaRPr lang="pt-BR" sz="26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Caminho do arquivo: C:\Usuários\Aluno\Downloads</a:t>
            </a:r>
            <a:endParaRPr sz="26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pt-BR" sz="36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!@ # $ % &amp; * ( ) _ + = { } [ ]</a:t>
            </a:r>
            <a:endParaRPr sz="26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600" b="0" i="0" u="none" strike="noStrike" cap="none" spc="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"Digite rápido e sem erros!", disse o professor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921001127" name="Google Shape;97;p19"/>
          <p:cNvSpPr txBox="1"/>
          <p:nvPr/>
        </p:nvSpPr>
        <p:spPr bwMode="auto">
          <a:xfrm>
            <a:off x="180500" y="200850"/>
            <a:ext cx="372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Caracteres Numéricos e Atalhos (1234567890 / AltGr / Shift)</a:t>
            </a: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</a:endParaRPr>
          </a:p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</a:endParaRPr>
          </a:p>
        </p:txBody>
      </p:sp>
      <p:pic>
        <p:nvPicPr>
          <p:cNvPr id="13903996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82343" y="200848"/>
            <a:ext cx="2731597" cy="1815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76113" name="Google Shape;95;p19"/>
          <p:cNvSpPr txBox="1"/>
          <p:nvPr>
            <p:ph type="body" idx="1"/>
          </p:nvPr>
        </p:nvSpPr>
        <p:spPr bwMode="auto">
          <a:xfrm>
            <a:off x="311699" y="2391274"/>
            <a:ext cx="8520599" cy="2177699"/>
          </a:xfrm>
          <a:prstGeom prst="rect">
            <a:avLst/>
          </a:prstGeo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2¹ 2² 2³</a:t>
            </a:r>
            <a:endParaRPr lang="pt-BR"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£ ¢ ¬</a:t>
            </a: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 § ª</a:t>
            </a:r>
            <a:r>
              <a:rPr lang="pt-BR" sz="3000">
                <a:solidFill>
                  <a:schemeClr val="dk1"/>
                </a:solidFill>
                <a:latin typeface="TeX Gyre Adventor"/>
                <a:ea typeface="TeX Gyre Adventor"/>
                <a:cs typeface="TeX Gyre Adventor"/>
              </a:rPr>
              <a:t> </a:t>
            </a:r>
            <a:r>
              <a:rPr lang="pt-BR" sz="3000">
                <a:solidFill>
                  <a:schemeClr val="dk1"/>
                </a:solidFill>
                <a:latin typeface="TeX Gyre Adventor"/>
                <a:ea typeface="TeX Gyre Adventor"/>
                <a:cs typeface="TeX Gyre Adventor"/>
              </a:rPr>
              <a:t>º</a:t>
            </a:r>
            <a:r>
              <a:rPr lang="pt-BR" sz="3000">
                <a:solidFill>
                  <a:schemeClr val="dk1"/>
                </a:solidFill>
                <a:latin typeface="TeX Gyre Adventor"/>
                <a:ea typeface="TeX Gyre Adventor"/>
                <a:cs typeface="TeX Gyre Adventor"/>
              </a:rPr>
              <a:t> °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199"/>
              </a:spcBef>
              <a:spcAft>
                <a:spcPts val="1199"/>
              </a:spcAft>
              <a:buNone/>
              <a:defRPr/>
            </a:pP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77177332" name="Google Shape;97;p19"/>
          <p:cNvSpPr txBox="1"/>
          <p:nvPr/>
        </p:nvSpPr>
        <p:spPr bwMode="auto">
          <a:xfrm>
            <a:off x="180499" y="200849"/>
            <a:ext cx="3729899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399"/>
              </a:spcBef>
              <a:spcAft>
                <a:spcPts val="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Caracteres Numéricos e Atalhos (1234567890 / AltGr / Shift)</a:t>
            </a: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</a:endParaRPr>
          </a:p>
          <a:p>
            <a:pPr marL="0" lvl="0" indent="0" algn="l" rtl="0">
              <a:lnSpc>
                <a:spcPct val="114999"/>
              </a:lnSpc>
              <a:spcBef>
                <a:spcPts val="1399"/>
              </a:spcBef>
              <a:spcAft>
                <a:spcPts val="398"/>
              </a:spcAft>
              <a:buNone/>
              <a:defRPr/>
            </a:pP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</a:endParaRPr>
          </a:p>
        </p:txBody>
      </p:sp>
      <p:pic>
        <p:nvPicPr>
          <p:cNvPr id="11885471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185713" y="291192"/>
            <a:ext cx="3646584" cy="24839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394421" name="Google Shape;109;p21"/>
          <p:cNvSpPr txBox="1"/>
          <p:nvPr>
            <p:ph type="body" idx="1"/>
          </p:nvPr>
        </p:nvSpPr>
        <p:spPr bwMode="auto">
          <a:xfrm>
            <a:off x="311700" y="2391274"/>
            <a:ext cx="8520600" cy="21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 prática leva à perfeição. Quanto mais você digitar, mais rápido ficará! 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880997152" name="Google Shape;110;p21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4" y="0"/>
            <a:ext cx="4102475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507799452" name="Google Shape;111;p21"/>
          <p:cNvSpPr txBox="1"/>
          <p:nvPr/>
        </p:nvSpPr>
        <p:spPr bwMode="auto">
          <a:xfrm>
            <a:off x="180500" y="200850"/>
            <a:ext cx="372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Frase</a:t>
            </a:r>
            <a:r>
              <a:rPr lang="pt-BR" sz="2200">
                <a:solidFill>
                  <a:schemeClr val="dk1"/>
                </a:solidFill>
                <a:latin typeface="EB Garamond"/>
                <a:ea typeface="EB Garamond"/>
                <a:cs typeface="EB Garamond"/>
              </a:rPr>
              <a:t> </a:t>
            </a: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Longas</a:t>
            </a:r>
            <a:endParaRPr sz="2700">
              <a:solidFill>
                <a:schemeClr val="dk2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500355" name="Google Shape;116;p22"/>
          <p:cNvSpPr txBox="1"/>
          <p:nvPr>
            <p:ph type="body" idx="1"/>
          </p:nvPr>
        </p:nvSpPr>
        <p:spPr bwMode="auto">
          <a:xfrm>
            <a:off x="311700" y="2391274"/>
            <a:ext cx="8520600" cy="21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"A digitação rápida e precisa é uma habilidade essencial no mundo digital. Treinar diariamente ajuda a ganhar fluidez e eficiência no teclado!"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965343569" name="Google Shape;117;p22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041524" y="0"/>
            <a:ext cx="4102475" cy="23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920331042" name="Google Shape;118;p22"/>
          <p:cNvSpPr txBox="1"/>
          <p:nvPr/>
        </p:nvSpPr>
        <p:spPr bwMode="auto">
          <a:xfrm>
            <a:off x="180500" y="200850"/>
            <a:ext cx="37299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r>
              <a:rPr lang="pt-BR" sz="2200">
                <a:solidFill>
                  <a:srgbClr val="D9D9D9"/>
                </a:solidFill>
                <a:latin typeface="EB Garamond"/>
                <a:ea typeface="EB Garamond"/>
                <a:cs typeface="EB Garamond"/>
              </a:rPr>
              <a:t>Parágrafo</a:t>
            </a:r>
            <a:endParaRPr sz="2700">
              <a:solidFill>
                <a:srgbClr val="D9D9D9"/>
              </a:solidFill>
              <a:latin typeface="EB Garamond"/>
              <a:ea typeface="EB Garamond"/>
              <a:cs typeface="EB Garamo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251602" name="Google Shape;123;p23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5000">
                <a:latin typeface="Verdana"/>
                <a:ea typeface="Verdana"/>
                <a:cs typeface="Verdana"/>
              </a:rPr>
              <a:t>Textos para</a:t>
            </a:r>
            <a:r>
              <a:rPr lang="pt-BR" sz="5000">
                <a:latin typeface="Verdana"/>
                <a:ea typeface="Verdana"/>
                <a:cs typeface="Verdana"/>
              </a:rPr>
              <a:t> digitação</a:t>
            </a:r>
            <a:endParaRPr sz="5000">
              <a:latin typeface="Verdana"/>
              <a:ea typeface="Verdana"/>
              <a:cs typeface="Verdana"/>
            </a:endParaRPr>
          </a:p>
        </p:txBody>
      </p:sp>
      <p:sp>
        <p:nvSpPr>
          <p:cNvPr id="1576121066" name="Google Shape;124;p23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/>
              <a:t>Informática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11840" name="Google Shape;129;p24"/>
          <p:cNvSpPr txBox="1"/>
          <p:nvPr>
            <p:ph type="body" idx="1"/>
          </p:nvPr>
        </p:nvSpPr>
        <p:spPr bwMode="auto">
          <a:xfrm flipH="0" flipV="0">
            <a:off x="311699" y="106799"/>
            <a:ext cx="8520599" cy="3802418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t" anchorCtr="0" forceAA="0" upright="0" compatLnSpc="0">
            <a:normAutofit fontScale="80000" lnSpcReduction="4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Hardware é a parte física do computador — tudo o que podemos ver e tocar: monitor, teclado, mouse, placa-mãe, HD, memória RAM, cabos e muito mais. Sem hardware, o computador simplesmente não funciona.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Atenção: hardware é diferente de software. O hardware é o "corpo"; o software, a "mente". Um depende do outro para funcionar corretamente.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912186065" name="Google Shape;130;p24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639799" y="3100950"/>
            <a:ext cx="3504200" cy="2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727921" name="Google Shape;135;p25"/>
          <p:cNvSpPr txBox="1"/>
          <p:nvPr>
            <p:ph type="body" idx="1"/>
          </p:nvPr>
        </p:nvSpPr>
        <p:spPr bwMode="auto">
          <a:xfrm flipH="0" flipV="0">
            <a:off x="311699" y="106799"/>
            <a:ext cx="8520599" cy="3504762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t" anchorCtr="0" forceAA="0" upright="0" compatLnSpc="0">
            <a:normAutofit fontScale="75000" lnSpcReduction="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Software é a parte lógica do computador - os programas, aplicativos e sistemas que controlam tudo o que acontece. Sem software, o hardware seria inútil, como um rádio sem sinal ou um carro sem motor.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sistema operacional (como o Windows) é um tipo de software. Outros exemplos: navegadores, editores de texto, planilhas eletrônicas, jogos, antivírus e até calculadoras digitais.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78332968" name="Google Shape;136;p25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639799" y="3100950"/>
            <a:ext cx="3504200" cy="2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418067" name="Google Shape;141;p26"/>
          <p:cNvSpPr txBox="1"/>
          <p:nvPr>
            <p:ph type="body" idx="1"/>
          </p:nvPr>
        </p:nvSpPr>
        <p:spPr bwMode="auto">
          <a:xfrm flipH="0" flipV="0">
            <a:off x="311699" y="106799"/>
            <a:ext cx="8520599" cy="3524605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t" anchorCtr="0" forceAA="0" upright="0" compatLnSpc="0">
            <a:normAutofit fontScale="80000" lnSpcReduction="4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sistema operacional (ou S.O.) é o software principal do computador. Ele faz a ponte entre o hardware e os programas, permitindo que tudo funcione de forma organizada, segura e eficiente.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S.O. controla processos, memória, segurança, dispositivos de entrada e saída, além de oferecer uma interface gráfica com janelas, ícones e menus interativos.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950549363" name="Google Shape;142;p26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639799" y="3100950"/>
            <a:ext cx="3504200" cy="2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129785" name="Google Shape;147;p27"/>
          <p:cNvSpPr txBox="1"/>
          <p:nvPr>
            <p:ph type="body" idx="1"/>
          </p:nvPr>
        </p:nvSpPr>
        <p:spPr bwMode="auto">
          <a:xfrm flipH="0" flipV="0">
            <a:off x="311699" y="106799"/>
            <a:ext cx="8520599" cy="3326168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t" anchorCtr="0" forceAA="0" upright="0" compatLnSpc="0">
            <a:normAutofit fontScale="70000" lnSpcReduction="6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macOS é o sistema operacional desenvolvido pela Apple para os computadores Mac. Ele oferece uma interface limpa, moderna e intuitiva, com foco em desempenho, estabilidade e integração com outros dispositivos da marca.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No macOS, encontramos recursos como o Dock (barra de atalhos), Finder (explorador de arquivos), Launchpad (menu de aplicativos) e a Central de Controle, onde é possível ajustar brilho, volume, Wi-Fi e outras funções rapidamente.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578603745" name="Google Shape;148;p27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639799" y="3100950"/>
            <a:ext cx="3504200" cy="2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102531" name="Google Shape;153;p28"/>
          <p:cNvSpPr txBox="1"/>
          <p:nvPr>
            <p:ph type="body" idx="1"/>
          </p:nvPr>
        </p:nvSpPr>
        <p:spPr bwMode="auto">
          <a:xfrm>
            <a:off x="311700" y="106800"/>
            <a:ext cx="8520600" cy="30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Linux é um sistema operacional aberto e livre, o que significa que qualquer pessoa pode modificar, distribuir e usar o código-fonte sem restrições. Criado por Linus Torvalds, o Linux é conhecido por sua segurança, estabilidade e flexibilidade, sendo muito utilizado em servidores e dispositivos móveis.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361921798" name="Google Shape;154;p28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639799" y="3100950"/>
            <a:ext cx="3504200" cy="2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045063" name="Google Shape;159;p29"/>
          <p:cNvSpPr txBox="1"/>
          <p:nvPr>
            <p:ph type="body" idx="1"/>
          </p:nvPr>
        </p:nvSpPr>
        <p:spPr bwMode="auto">
          <a:xfrm>
            <a:off x="311700" y="106800"/>
            <a:ext cx="8520600" cy="30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Windows 10 é um sistema operacional criado pela Microsoft. Ele serve como ponte entre o usuário e o computador, permitindo que programas sejam executados e tarefas realizadas com facilidade.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Ao ligar o computador, o Windows carrega automaticamente e exibe a Área de Trabalho. É lá que encontramos ícones, a barra de tarefas, o botão Iniciar, data, hora e outras funções úteis.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381358010" name="Google Shape;160;p29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639799" y="3100950"/>
            <a:ext cx="3504200" cy="2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925705" name="Google Shape;165;p30"/>
          <p:cNvSpPr txBox="1"/>
          <p:nvPr>
            <p:ph type="body" idx="1"/>
          </p:nvPr>
        </p:nvSpPr>
        <p:spPr bwMode="auto">
          <a:xfrm>
            <a:off x="311700" y="106800"/>
            <a:ext cx="8520600" cy="30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Menu Iniciar está localizado no canto inferior esquerdo da tela, marcado pelo ícone do Windows. Ao clicar nesse botão, o usuário tem acesso rápido a aplicativos, pastas, configurações e opções de desligar ou reiniciar o computador.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menu é dividido em blocos e listas: do lado esquerdo, temos os programas mais usados e, do lado direito, os blocos dinâmicos, que podem ser organizados e redimensionados. É possível fixar ou remover itens conforme a necessidade.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273523269" name="Google Shape;166;p30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639799" y="3100950"/>
            <a:ext cx="3504200" cy="2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201918" name="Google Shape;171;p31"/>
          <p:cNvSpPr txBox="1"/>
          <p:nvPr>
            <p:ph type="body" idx="1"/>
          </p:nvPr>
        </p:nvSpPr>
        <p:spPr bwMode="auto">
          <a:xfrm>
            <a:off x="311700" y="106800"/>
            <a:ext cx="8520600" cy="30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O Explorador de Arquivos é a ferramenta do Windows usada para acessar, organizar e gerenciar pastas, documentos, imagens, vídeos, downloads e outros arquivos do computador.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pt-BR" sz="300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 barra de endereços mostra o caminho da pasta atual. Também é possível usar o campo de busca para encontrar arquivos digitando parte do nome ou extensão (.docx, .pdf, .jpg etc.).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092477819" name="Google Shape;172;p31"/>
          <p:cNvPicPr/>
          <p:nvPr/>
        </p:nvPicPr>
        <p:blipFill rotWithShape="1">
          <a:blip r:embed="rId3">
            <a:alphaModFix/>
          </a:blip>
          <a:srcRect l="2225" t="6604" r="1015" b="2427"/>
          <a:stretch/>
        </p:blipFill>
        <p:spPr bwMode="auto">
          <a:xfrm>
            <a:off x="5639799" y="3100950"/>
            <a:ext cx="3504200" cy="2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2026-07-09T20:16:50Z</dcterms:modified>
</cp:coreProperties>
</file>