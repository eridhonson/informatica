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79462-6470-8717-1FA1-A8BF4784E67B}" v="617" dt="2026-06-19T13:37:36.754"/>
    <p1510:client id="{FF30D652-B4BC-81E8-76CD-78B6C8AF3F8F}" v="169" dt="2026-06-19T12:47:39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2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63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441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06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782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77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955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769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02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833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979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734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4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5763" y="1122363"/>
            <a:ext cx="6944317" cy="2310109"/>
          </a:xfrm>
        </p:spPr>
        <p:txBody>
          <a:bodyPr>
            <a:noAutofit/>
          </a:bodyPr>
          <a:lstStyle/>
          <a:p>
            <a:pPr algn="l"/>
            <a:r>
              <a:rPr lang="de-DE" sz="8800" err="1"/>
              <a:t>Navegadores</a:t>
            </a:r>
            <a:endParaRPr lang="de-DE" sz="8800"/>
          </a:p>
        </p:txBody>
      </p:sp>
      <p:pic>
        <p:nvPicPr>
          <p:cNvPr id="6" name="Imagem 5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C759959F-ED59-DA88-2BC3-497D4D074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595" y="210833"/>
            <a:ext cx="1960570" cy="1960570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A83E64C9-51DE-F0BC-8F7C-B191D9CCC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408" y="2531704"/>
            <a:ext cx="1968004" cy="1954327"/>
          </a:xfrm>
          <a:prstGeom prst="rect">
            <a:avLst/>
          </a:prstGeom>
        </p:spPr>
      </p:pic>
      <p:pic>
        <p:nvPicPr>
          <p:cNvPr id="8" name="Imagem 7" descr="Imajen:Mozilla Firefox logo 2013.svg - Wikipedia">
            <a:extLst>
              <a:ext uri="{FF2B5EF4-FFF2-40B4-BE49-F238E27FC236}">
                <a16:creationId xmlns:a16="http://schemas.microsoft.com/office/drawing/2014/main" id="{0B842B13-831C-22E8-B146-231A2FF20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826" y="4868503"/>
            <a:ext cx="1968219" cy="195432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FF14D89-53F1-6C99-0769-731F111C7C4E}"/>
              </a:ext>
            </a:extLst>
          </p:cNvPr>
          <p:cNvSpPr txBox="1"/>
          <p:nvPr/>
        </p:nvSpPr>
        <p:spPr>
          <a:xfrm>
            <a:off x="647700" y="3644900"/>
            <a:ext cx="69469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 err="1"/>
              <a:t>Eridhonson</a:t>
            </a:r>
            <a:r>
              <a:rPr lang="pt-BR" sz="2400" dirty="0"/>
              <a:t> Oliveira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0A130-7BF2-A519-F45E-0478D296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2400" cy="1350963"/>
          </a:xfrm>
        </p:spPr>
        <p:txBody>
          <a:bodyPr/>
          <a:lstStyle/>
          <a:p>
            <a:r>
              <a:rPr lang="pt-BR" dirty="0"/>
              <a:t>O que são? Onde vivem? Do que se alimentam?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4A6EFD-D73F-6823-99C9-F71462F0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424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200" dirty="0">
                <a:ea typeface="+mn-lt"/>
                <a:cs typeface="+mn-lt"/>
              </a:rPr>
              <a:t>Um navegador web (também conhecido como browser) é um programa ou aplicativo que permite acessar e visualizar </a:t>
            </a:r>
            <a:r>
              <a:rPr lang="pt-BR" sz="2200" b="1" dirty="0">
                <a:ea typeface="+mn-lt"/>
                <a:cs typeface="+mn-lt"/>
              </a:rPr>
              <a:t>sites</a:t>
            </a:r>
            <a:r>
              <a:rPr lang="pt-BR" sz="2200" dirty="0">
                <a:ea typeface="+mn-lt"/>
                <a:cs typeface="+mn-lt"/>
              </a:rPr>
              <a:t>, </a:t>
            </a:r>
            <a:r>
              <a:rPr lang="pt-BR" sz="2200" b="1" dirty="0">
                <a:ea typeface="+mn-lt"/>
                <a:cs typeface="+mn-lt"/>
              </a:rPr>
              <a:t>vídeos </a:t>
            </a:r>
            <a:r>
              <a:rPr lang="pt-BR" sz="2200" dirty="0">
                <a:ea typeface="+mn-lt"/>
                <a:cs typeface="+mn-lt"/>
              </a:rPr>
              <a:t>e </a:t>
            </a:r>
            <a:r>
              <a:rPr lang="pt-BR" sz="2200" b="1" dirty="0">
                <a:ea typeface="+mn-lt"/>
                <a:cs typeface="+mn-lt"/>
              </a:rPr>
              <a:t>conteúdos na internet</a:t>
            </a:r>
            <a:r>
              <a:rPr lang="pt-BR" sz="2200" dirty="0">
                <a:ea typeface="+mn-lt"/>
                <a:cs typeface="+mn-lt"/>
              </a:rPr>
              <a:t>. </a:t>
            </a:r>
          </a:p>
          <a:p>
            <a:pPr marL="0" indent="0">
              <a:buNone/>
            </a:pPr>
            <a:r>
              <a:rPr lang="pt-BR" sz="2200" dirty="0">
                <a:ea typeface="+mn-lt"/>
                <a:cs typeface="+mn-lt"/>
              </a:rPr>
              <a:t>Os exemplos mais populares são:</a:t>
            </a:r>
          </a:p>
          <a:p>
            <a:pPr marL="285750" indent="-285750"/>
            <a:r>
              <a:rPr lang="pt-BR" sz="2200" dirty="0">
                <a:ea typeface="+mn-lt"/>
                <a:cs typeface="+mn-lt"/>
              </a:rPr>
              <a:t>Google Chrome</a:t>
            </a:r>
          </a:p>
          <a:p>
            <a:pPr marL="285750" indent="-285750"/>
            <a:r>
              <a:rPr lang="pt-BR" sz="2200" dirty="0">
                <a:ea typeface="+mn-lt"/>
                <a:cs typeface="+mn-lt"/>
              </a:rPr>
              <a:t>Microsoft Edge</a:t>
            </a:r>
          </a:p>
          <a:p>
            <a:pPr marL="285750" indent="-285750"/>
            <a:r>
              <a:rPr lang="pt-BR" sz="2200" dirty="0">
                <a:ea typeface="+mn-lt"/>
                <a:cs typeface="+mn-lt"/>
              </a:rPr>
              <a:t>Mozilla Firefox</a:t>
            </a:r>
          </a:p>
          <a:p>
            <a:pPr marL="285750" indent="-285750"/>
            <a:r>
              <a:rPr lang="pt-BR" sz="2200" dirty="0">
                <a:ea typeface="+mn-lt"/>
                <a:cs typeface="+mn-lt"/>
              </a:rPr>
              <a:t>Safari</a:t>
            </a:r>
          </a:p>
          <a:p>
            <a:pPr marL="285750" indent="-285750"/>
            <a:r>
              <a:rPr lang="pt-BR" sz="2200" dirty="0">
                <a:ea typeface="+mn-lt"/>
                <a:cs typeface="+mn-lt"/>
              </a:rPr>
              <a:t>Opera</a:t>
            </a:r>
            <a:endParaRPr lang="pt-BR" sz="2200" dirty="0"/>
          </a:p>
        </p:txBody>
      </p:sp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8DF33F9D-BA11-9035-3B68-2EBEE82C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49" y="408336"/>
            <a:ext cx="1229964" cy="12299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C3929DB8-5834-1412-32C6-7FCD349AF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262" y="2729207"/>
            <a:ext cx="1236206" cy="12237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DCCC2A1C-1A9E-CC59-E018-1ABB10207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680" y="5066007"/>
            <a:ext cx="1236421" cy="1223721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D6DB095-1E59-40FC-A06B-14F4A4FE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pt-BR"/>
          </a:p>
        </p:txBody>
      </p:sp>
      <p:pic>
        <p:nvPicPr>
          <p:cNvPr id="4" name="Imagem 3" descr="ícone de Opera navegador logo">
            <a:extLst>
              <a:ext uri="{FF2B5EF4-FFF2-40B4-BE49-F238E27FC236}">
                <a16:creationId xmlns:a16="http://schemas.microsoft.com/office/drawing/2014/main" id="{9B5B4C19-B570-EEE9-8751-68F0DF853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226" y="5865355"/>
            <a:ext cx="849152" cy="838038"/>
          </a:xfrm>
          <a:prstGeom prst="rect">
            <a:avLst/>
          </a:prstGeom>
        </p:spPr>
      </p:pic>
      <p:pic>
        <p:nvPicPr>
          <p:cNvPr id="6" name="Imagem 5" descr="Safári - ícones de logotipo grátis">
            <a:extLst>
              <a:ext uri="{FF2B5EF4-FFF2-40B4-BE49-F238E27FC236}">
                <a16:creationId xmlns:a16="http://schemas.microsoft.com/office/drawing/2014/main" id="{040EFF91-C43D-3774-5FF8-0EF6D7B52E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419" y="5151913"/>
            <a:ext cx="614766" cy="603905"/>
          </a:xfrm>
          <a:prstGeom prst="rect">
            <a:avLst/>
          </a:prstGeom>
        </p:spPr>
      </p:pic>
      <p:pic>
        <p:nvPicPr>
          <p:cNvPr id="10" name="Imagem 9" descr="Interface gráfica do usuário, Text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30DACC37-CACB-B066-B3BC-140DBB2191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9229" y="3554118"/>
            <a:ext cx="3196524" cy="235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01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4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"/>
                            </p:stCondLst>
                            <p:childTnLst>
                              <p:par>
                                <p:cTn id="6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6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4F91A-68BB-EFD4-D0C0-18747A38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244BF-B451-E987-B4DC-70D1F495D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2400" cy="1350963"/>
          </a:xfrm>
        </p:spPr>
        <p:txBody>
          <a:bodyPr/>
          <a:lstStyle/>
          <a:p>
            <a:r>
              <a:rPr lang="pt-BR" dirty="0"/>
              <a:t>Google Chrome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CF3792-9AB2-C954-96BC-8F638A2D7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54943" cy="181994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ea typeface="+mn-lt"/>
                <a:cs typeface="+mn-lt"/>
              </a:rPr>
              <a:t>O Google Chrome é um navegador de internet desenvolvido pela Google. Foi lançado pela primeira vez no dia 2 de setembro de 2008, para o Microsoft Windows, e mais tarde foi portado para Linux, Mac, iOS e Android.</a:t>
            </a:r>
            <a:endParaRPr lang="pt-BR" sz="2400" dirty="0"/>
          </a:p>
        </p:txBody>
      </p:sp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1220D8AC-E585-E8D0-B82A-5ACDD4667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849" y="370236"/>
            <a:ext cx="1966564" cy="20046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042B5E32-418C-1B68-A33B-42BC422CC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262" y="2729207"/>
            <a:ext cx="1236206" cy="12237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D5361E62-11DA-E2D1-330D-26B6031FB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680" y="5066007"/>
            <a:ext cx="1236421" cy="1223721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013FD1-5BBB-11B4-A5EA-C71883D2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643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E921-F453-7566-0FB0-BEE5E835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0A8BA-8DFF-20EB-92C4-93E20D9F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2400" cy="1350963"/>
          </a:xfrm>
        </p:spPr>
        <p:txBody>
          <a:bodyPr/>
          <a:lstStyle/>
          <a:p>
            <a:r>
              <a:rPr lang="pt-BR" dirty="0">
                <a:ea typeface="+mj-lt"/>
                <a:cs typeface="+mj-lt"/>
              </a:rPr>
              <a:t>Microsoft Edge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11129B-5E1D-EA66-B103-98FBE4D5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99960" cy="30856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ea typeface="+mn-lt"/>
                <a:cs typeface="+mn-lt"/>
              </a:rPr>
              <a:t>O Microsoft Edge é um navegador da internet desenvolvido pela Microsoft. Foi lançado pela primeira vez para Windows 10 e Xbox </a:t>
            </a:r>
            <a:r>
              <a:rPr lang="pt-BR" sz="2400" dirty="0" err="1">
                <a:ea typeface="+mn-lt"/>
                <a:cs typeface="+mn-lt"/>
              </a:rPr>
              <a:t>One</a:t>
            </a:r>
            <a:r>
              <a:rPr lang="pt-BR" sz="2400" dirty="0">
                <a:ea typeface="+mn-lt"/>
                <a:cs typeface="+mn-lt"/>
              </a:rPr>
              <a:t> em 2015, depois para Android e iOS em 2017, para </a:t>
            </a:r>
            <a:r>
              <a:rPr lang="pt-BR" sz="2400" dirty="0" err="1">
                <a:ea typeface="+mn-lt"/>
                <a:cs typeface="+mn-lt"/>
              </a:rPr>
              <a:t>macOS</a:t>
            </a:r>
            <a:r>
              <a:rPr lang="pt-BR" sz="2400" dirty="0">
                <a:ea typeface="+mn-lt"/>
                <a:cs typeface="+mn-lt"/>
              </a:rPr>
              <a:t>, e distribuições Linux, como Ubuntu, Fedora e </a:t>
            </a:r>
            <a:r>
              <a:rPr lang="pt-BR" sz="2400" dirty="0" err="1">
                <a:ea typeface="+mn-lt"/>
                <a:cs typeface="+mn-lt"/>
              </a:rPr>
              <a:t>OpenSUSE</a:t>
            </a:r>
            <a:r>
              <a:rPr lang="pt-BR" sz="2400" dirty="0">
                <a:ea typeface="+mn-lt"/>
                <a:cs typeface="+mn-lt"/>
              </a:rPr>
              <a:t> e em suas derivações em 2020. Ele é o sucessor do Internet Explorer, atuando como o novo navegador padrão de internet da Microsoft.</a:t>
            </a:r>
            <a:endParaRPr lang="pt-BR" sz="2400" dirty="0"/>
          </a:p>
        </p:txBody>
      </p:sp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7B5EFBAD-9DCA-8E49-BB0D-03EA9F610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49" y="408336"/>
            <a:ext cx="1229964" cy="12299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405C41BF-EB4F-48AD-239D-636BDF7E9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6862" y="1954507"/>
            <a:ext cx="2023606" cy="20492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398AF172-57D7-7317-8A2A-577CE8E0B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680" y="5066007"/>
            <a:ext cx="1236421" cy="1223721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C506DD-CF1F-39D6-4487-1FF2CEF8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560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26AD-9B71-4DA9-3070-E0E30D91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1345C-F721-1CF1-963B-4D9FE11C1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2400" cy="1350963"/>
          </a:xfrm>
        </p:spPr>
        <p:txBody>
          <a:bodyPr>
            <a:normAutofit/>
          </a:bodyPr>
          <a:lstStyle/>
          <a:p>
            <a:r>
              <a:rPr lang="pt-BR" dirty="0">
                <a:ea typeface="+mj-lt"/>
                <a:cs typeface="+mj-lt"/>
              </a:rPr>
              <a:t>Mozilla Firefox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EFD947-DE49-C355-24D1-0552BD6D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9996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 dirty="0">
                <a:ea typeface="+mn-lt"/>
                <a:cs typeface="+mn-lt"/>
              </a:rPr>
              <a:t>Mozilla Firefox, ou simplesmente Firefox, é um navegador livre e multiplataforma desenvolvido pela Mozilla Foundation com ajuda de centenas de colaboradores. A intenção da fundação é desenvolver um navegador leve, seguro, intuitivo e altamente extensível. Baseado no componente de navegação da Mozilla </a:t>
            </a:r>
            <a:r>
              <a:rPr lang="pt-BR" sz="2400" dirty="0" err="1">
                <a:ea typeface="+mn-lt"/>
                <a:cs typeface="+mn-lt"/>
              </a:rPr>
              <a:t>Application</a:t>
            </a:r>
            <a:r>
              <a:rPr lang="pt-BR" sz="2400" dirty="0">
                <a:ea typeface="+mn-lt"/>
                <a:cs typeface="+mn-lt"/>
              </a:rPr>
              <a:t> </a:t>
            </a:r>
            <a:r>
              <a:rPr lang="pt-BR" sz="2400" dirty="0" err="1">
                <a:ea typeface="+mn-lt"/>
                <a:cs typeface="+mn-lt"/>
              </a:rPr>
              <a:t>Suite</a:t>
            </a:r>
            <a:r>
              <a:rPr lang="pt-BR" sz="2400" dirty="0">
                <a:ea typeface="+mn-lt"/>
                <a:cs typeface="+mn-lt"/>
              </a:rPr>
              <a:t>, o Firefox tornou-se o objetivo principal da Mozilla Foundation. Cerca de 40% do código do programa foi totalmente escrito por voluntários.</a:t>
            </a:r>
            <a:endParaRPr lang="pt-BR" sz="2400" dirty="0"/>
          </a:p>
        </p:txBody>
      </p:sp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7D1FD755-DA7A-CCD1-8125-C226419AE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49" y="408336"/>
            <a:ext cx="1229964" cy="12299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CDE19590-A572-9178-0BAB-841378414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262" y="2729207"/>
            <a:ext cx="1236206" cy="12237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0795933A-9B12-D99F-D90F-39C6555BC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234" y="4280561"/>
            <a:ext cx="2021867" cy="200916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B3BB35-3D20-67EC-F01A-9E5C58A4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5318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6410F-A479-EB3D-C6C3-06807537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80FC6-5A51-3E13-B44D-B5BAC180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2400" cy="1350963"/>
          </a:xfrm>
        </p:spPr>
        <p:txBody>
          <a:bodyPr/>
          <a:lstStyle/>
          <a:p>
            <a:r>
              <a:rPr lang="pt-BR" dirty="0"/>
              <a:t>O que é importante saber sobre os navegadores?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AA45A86-F1B2-BF84-1C90-8CFAF6FCE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35" y="2138424"/>
            <a:ext cx="6669698" cy="572232"/>
          </a:xfrm>
          <a:prstGeom prst="rect">
            <a:avLst/>
          </a:prstGeom>
        </p:spPr>
      </p:pic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D6BA4552-5FD0-6464-8A42-EA8B07F59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449" y="408336"/>
            <a:ext cx="1229964" cy="12299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DA00EBD6-1079-D24B-5A07-3E1C52406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262" y="2729207"/>
            <a:ext cx="1236206" cy="12237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CBC0BB12-A07F-1A18-C4B3-429F2A35B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1680" y="5066007"/>
            <a:ext cx="1236421" cy="1223721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D3DFCE8-9202-0CD8-10E7-D16AE7B9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C21D3B-08F4-FB40-C659-5D8043E04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" y="3195638"/>
            <a:ext cx="1697648" cy="5722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3AE59C0-A3A6-4698-BD27-1579DD9958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783" y="4248515"/>
            <a:ext cx="9264894" cy="55318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CA92E5D-91A5-3B1C-51B7-1255740D79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714" y="5275750"/>
            <a:ext cx="1697648" cy="50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61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A2FE-88DF-EA9D-B455-F937CA33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DE2B-8267-AA70-996E-7C1BECD91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2400" cy="1350963"/>
          </a:xfrm>
        </p:spPr>
        <p:txBody>
          <a:bodyPr/>
          <a:lstStyle/>
          <a:p>
            <a:r>
              <a:rPr lang="pt-BR" dirty="0"/>
              <a:t>Fazendo uma busca na internet</a:t>
            </a:r>
          </a:p>
        </p:txBody>
      </p:sp>
      <p:pic>
        <p:nvPicPr>
          <p:cNvPr id="14" name="Espaço Reservado para Conteúdo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C6ACB4A-35EE-1EE7-D68B-099E0C657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3769" y="2445422"/>
            <a:ext cx="5099538" cy="3017958"/>
          </a:xfrm>
          <a:prstGeom prst="rect">
            <a:avLst/>
          </a:prstGeom>
        </p:spPr>
      </p:pic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F6DB42EC-D4F7-D3D3-2D38-72DCF1676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449" y="408336"/>
            <a:ext cx="1229964" cy="12299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E90AC354-B108-D97A-B295-23FFB70A5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262" y="2729207"/>
            <a:ext cx="1236206" cy="12237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05BDB346-EC50-AE96-B321-E3C6A2A8F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1680" y="5066007"/>
            <a:ext cx="1236421" cy="1223721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7D96D663-E8C1-61D5-2531-22F19F7E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241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6C2AD-83E4-1B44-3001-C38F9780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6DCD2-6936-9E29-3321-80656F84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2400" cy="1350963"/>
          </a:xfrm>
        </p:spPr>
        <p:txBody>
          <a:bodyPr/>
          <a:lstStyle/>
          <a:p>
            <a:r>
              <a:rPr lang="pt-BR" dirty="0"/>
              <a:t>Passo a passo para fazer uma busca na internet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7B92B1-97F5-C29E-4A50-A76D9EBBE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42400" cy="21356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pt-BR" sz="2400" dirty="0"/>
              <a:t>Utilizamos a barra de pesquisa do navegador para </a:t>
            </a:r>
            <a:r>
              <a:rPr lang="pt-BR" sz="2400" b="1" dirty="0"/>
              <a:t>acessar</a:t>
            </a:r>
            <a:r>
              <a:rPr lang="pt-BR" sz="2400" dirty="0"/>
              <a:t> o Google</a:t>
            </a:r>
          </a:p>
          <a:p>
            <a:pPr marL="457200" indent="-457200">
              <a:buAutoNum type="arabicPeriod"/>
            </a:pPr>
            <a:r>
              <a:rPr lang="pt-BR" sz="2400" dirty="0"/>
              <a:t>Digitando </a:t>
            </a:r>
            <a:r>
              <a:rPr lang="pt-BR" sz="2400" b="1" dirty="0"/>
              <a:t>google.com</a:t>
            </a:r>
          </a:p>
          <a:p>
            <a:pPr marL="457200" indent="-457200">
              <a:buAutoNum type="arabicPeriod"/>
            </a:pPr>
            <a:r>
              <a:rPr lang="pt-BR" sz="2400" dirty="0"/>
              <a:t>Apertando </a:t>
            </a:r>
            <a:r>
              <a:rPr lang="pt-BR" sz="2400" b="1" dirty="0" err="1"/>
              <a:t>Enter</a:t>
            </a:r>
          </a:p>
        </p:txBody>
      </p:sp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B0BDD17A-EF60-AE7E-FFF5-8B984B7EB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49" y="408336"/>
            <a:ext cx="1229964" cy="12299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E56385DE-071F-8FC2-5B3F-1D3B0B664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262" y="2729207"/>
            <a:ext cx="1236206" cy="12237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DCC5A196-DA17-6327-05AD-8A043FAA4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680" y="5066007"/>
            <a:ext cx="1236421" cy="1223721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4F871562-5C1E-F2D9-9AD6-D1A74C79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85AA975-5CC6-DD74-FB78-5CD132A1C88D}"/>
              </a:ext>
            </a:extLst>
          </p:cNvPr>
          <p:cNvSpPr txBox="1"/>
          <p:nvPr/>
        </p:nvSpPr>
        <p:spPr>
          <a:xfrm>
            <a:off x="1278609" y="2815525"/>
            <a:ext cx="258305" cy="180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5DD8E91-A6FE-308F-0132-2CC7C77FC3DF}"/>
              </a:ext>
            </a:extLst>
          </p:cNvPr>
          <p:cNvSpPr/>
          <p:nvPr/>
        </p:nvSpPr>
        <p:spPr>
          <a:xfrm>
            <a:off x="1869731" y="4130895"/>
            <a:ext cx="4226268" cy="24040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Gogle.com</a:t>
            </a:r>
          </a:p>
          <a:p>
            <a:r>
              <a:rPr lang="pt-BR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Gooogle.com</a:t>
            </a:r>
          </a:p>
          <a:p>
            <a:r>
              <a:rPr lang="pt-BR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Guugle.com</a:t>
            </a:r>
          </a:p>
          <a:p>
            <a:r>
              <a:rPr lang="pt-BR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Googe.com</a:t>
            </a:r>
          </a:p>
          <a:p>
            <a:r>
              <a:rPr lang="pt-BR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 etc.</a:t>
            </a:r>
            <a:endParaRPr lang="pt-BR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617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94C0-ACC4-ACF1-B73B-5C9748A6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F6AB6-A7FB-A81C-D6E0-AD687790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2400" cy="1350963"/>
          </a:xfrm>
        </p:spPr>
        <p:txBody>
          <a:bodyPr/>
          <a:lstStyle/>
          <a:p>
            <a:r>
              <a:rPr lang="pt-BR" dirty="0"/>
              <a:t>Procurando um papel de parede na internet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440D4E-F519-6612-7633-730EAF21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42400" cy="12186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400" dirty="0"/>
              <a:t>Para encontrar papeis de parede, vamos pesquisar </a:t>
            </a:r>
            <a:r>
              <a:rPr lang="pt-BR" sz="2400" b="1" dirty="0"/>
              <a:t>o que você quer</a:t>
            </a:r>
            <a:r>
              <a:rPr lang="pt-BR" sz="2400" dirty="0"/>
              <a:t> seguido da palavra </a:t>
            </a:r>
            <a:r>
              <a:rPr lang="pt-BR" sz="2400" b="1" dirty="0"/>
              <a:t>wallpaper.</a:t>
            </a:r>
          </a:p>
        </p:txBody>
      </p:sp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0F2628D1-67C0-4C17-6534-63EA71D7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49" y="408336"/>
            <a:ext cx="1229964" cy="12299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A0384556-A862-A490-0095-800A31791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262" y="2729207"/>
            <a:ext cx="1236206" cy="12237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8B0D16F4-E659-7DB4-C9E8-E217283D4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680" y="5066007"/>
            <a:ext cx="1236421" cy="1223721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5D0FD42-558D-D59B-380A-200E5942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E49223-B202-8F46-2EE2-319239C262ED}"/>
              </a:ext>
            </a:extLst>
          </p:cNvPr>
          <p:cNvSpPr txBox="1"/>
          <p:nvPr/>
        </p:nvSpPr>
        <p:spPr>
          <a:xfrm>
            <a:off x="1278609" y="2815525"/>
            <a:ext cx="258305" cy="180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pic>
        <p:nvPicPr>
          <p:cNvPr id="6" name="Imagem 5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BB9CD9F5-FC66-0044-99F8-51E2E977D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8155" y="2749576"/>
            <a:ext cx="5715485" cy="38127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96125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069C4-D828-9354-46D0-C211ECFA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FCAE16A7-BCCE-F0FC-8D01-E2F406D88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17" y="244017"/>
            <a:ext cx="9473823" cy="62924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Imagem 4" descr="Ficheiro:Google Chrome icon (February 2022).svg – Wikipédia, a enciclopédia  livre">
            <a:extLst>
              <a:ext uri="{FF2B5EF4-FFF2-40B4-BE49-F238E27FC236}">
                <a16:creationId xmlns:a16="http://schemas.microsoft.com/office/drawing/2014/main" id="{FF2ACA47-E0C9-9DFC-E947-E56628AB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449" y="408336"/>
            <a:ext cx="1229964" cy="1229964"/>
          </a:xfrm>
          <a:prstGeom prst="rect">
            <a:avLst/>
          </a:prstGeom>
        </p:spPr>
      </p:pic>
      <p:pic>
        <p:nvPicPr>
          <p:cNvPr id="7" name="Imagem 6" descr="Microsoft Edge Browser - Baixar e instalar no Windows | Microsoft Store">
            <a:extLst>
              <a:ext uri="{FF2B5EF4-FFF2-40B4-BE49-F238E27FC236}">
                <a16:creationId xmlns:a16="http://schemas.microsoft.com/office/drawing/2014/main" id="{12D43356-20C5-00EA-5361-BC6042BC1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262" y="2729207"/>
            <a:ext cx="1236206" cy="1223721"/>
          </a:xfrm>
          <a:prstGeom prst="rect">
            <a:avLst/>
          </a:prstGeom>
        </p:spPr>
      </p:pic>
      <p:pic>
        <p:nvPicPr>
          <p:cNvPr id="9" name="Imagem 8" descr="Imajen:Mozilla Firefox logo 2013.svg - Wikipedia">
            <a:extLst>
              <a:ext uri="{FF2B5EF4-FFF2-40B4-BE49-F238E27FC236}">
                <a16:creationId xmlns:a16="http://schemas.microsoft.com/office/drawing/2014/main" id="{3A609E4F-14BD-4991-163E-4AEC92CF4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1680" y="5066007"/>
            <a:ext cx="1236421" cy="1223721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0893483-2B65-6764-0BB6-B6EC2377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D04C5B-8036-CDEA-63D4-03A5974D817E}"/>
              </a:ext>
            </a:extLst>
          </p:cNvPr>
          <p:cNvSpPr txBox="1"/>
          <p:nvPr/>
        </p:nvSpPr>
        <p:spPr>
          <a:xfrm>
            <a:off x="1278609" y="2815525"/>
            <a:ext cx="258305" cy="180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562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342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 Light</vt:lpstr>
      <vt:lpstr>Arial</vt:lpstr>
      <vt:lpstr>Verdana</vt:lpstr>
      <vt:lpstr>Walbaum Display</vt:lpstr>
      <vt:lpstr>BohoVogueVTI</vt:lpstr>
      <vt:lpstr>Navegadores</vt:lpstr>
      <vt:lpstr>O que são? Onde vivem? Do que se alimentam?</vt:lpstr>
      <vt:lpstr>Google Chrome</vt:lpstr>
      <vt:lpstr>Microsoft Edge</vt:lpstr>
      <vt:lpstr>Mozilla Firefox</vt:lpstr>
      <vt:lpstr>O que é importante saber sobre os navegadores?</vt:lpstr>
      <vt:lpstr>Fazendo uma busca na internet</vt:lpstr>
      <vt:lpstr>Passo a passo para fazer uma busca na internet</vt:lpstr>
      <vt:lpstr>Procurando um papel de parede na internet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Eridhonson</cp:lastModifiedBy>
  <cp:revision>272</cp:revision>
  <dcterms:created xsi:type="dcterms:W3CDTF">2026-06-19T12:31:45Z</dcterms:created>
  <dcterms:modified xsi:type="dcterms:W3CDTF">2026-06-19T15:12:26Z</dcterms:modified>
</cp:coreProperties>
</file>