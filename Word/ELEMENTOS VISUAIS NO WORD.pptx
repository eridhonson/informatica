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Proxima Nova"/>
      <p:regular r:id="rId19"/>
      <p:bold r:id="rId20"/>
      <p:italic r:id="rId21"/>
      <p:boldItalic r:id="rId22"/>
    </p:embeddedFont>
    <p:embeddedFont>
      <p:font typeface="Alfa Slab One"/>
      <p:regular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bold.fntdata"/><Relationship Id="rId11" Type="http://schemas.openxmlformats.org/officeDocument/2006/relationships/slide" Target="slides/slide6.xml"/><Relationship Id="rId22" Type="http://schemas.openxmlformats.org/officeDocument/2006/relationships/font" Target="fonts/ProximaNova-boldItalic.fntdata"/><Relationship Id="rId10" Type="http://schemas.openxmlformats.org/officeDocument/2006/relationships/slide" Target="slides/slide5.xml"/><Relationship Id="rId21" Type="http://schemas.openxmlformats.org/officeDocument/2006/relationships/font" Target="fonts/ProximaNova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AlfaSlabOne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roximaNova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47f0d949d_0_8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d47f0d949d_0_8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47f0d949d_0_8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47f0d949d_0_8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47f0d949d_0_7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47f0d949d_0_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47f0d949d_0_7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47f0d949d_0_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47f0d949d_0_7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d47f0d949d_0_7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47f0d949d_0_7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d47f0d949d_0_7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47f0d949d_0_7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47f0d949d_0_7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47f0d949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47f0d949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47f0d949d_0_7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47f0d949d_0_7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47f0d949d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d47f0d949d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47f0d949d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d47f0d949d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47f0d949d_2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d47f0d949d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ELEMENTOS VISUAIS NO WORD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Eridhonson Oliveira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FORMAS GEOMÉTRICAS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0087" y="152400"/>
            <a:ext cx="3503827" cy="467177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/>
          <p:nvPr/>
        </p:nvSpPr>
        <p:spPr>
          <a:xfrm>
            <a:off x="6849000" y="636150"/>
            <a:ext cx="1867800" cy="1597200"/>
          </a:xfrm>
          <a:prstGeom prst="hexagon">
            <a:avLst>
              <a:gd fmla="val 28852" name="adj"/>
              <a:gd fmla="val 115470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406050" y="527900"/>
            <a:ext cx="1732500" cy="1597200"/>
          </a:xfrm>
          <a:prstGeom prst="pentagon">
            <a:avLst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365400" y="3072550"/>
            <a:ext cx="1813800" cy="1678500"/>
          </a:xfrm>
          <a:prstGeom prst="heptagon">
            <a:avLst>
              <a:gd fmla="val 102572" name="hf"/>
              <a:gd fmla="val 105210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6916650" y="3072550"/>
            <a:ext cx="1732500" cy="1678500"/>
          </a:xfrm>
          <a:prstGeom prst="octagon">
            <a:avLst>
              <a:gd fmla="val 29289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PLACAS E SINALIZAÇÕES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838700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7425" y="152400"/>
            <a:ext cx="3447178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838701" cy="483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8"/>
          <p:cNvPicPr preferRelativeResize="0"/>
          <p:nvPr/>
        </p:nvPicPr>
        <p:blipFill rotWithShape="1">
          <a:blip r:embed="rId4">
            <a:alphaModFix/>
          </a:blip>
          <a:srcRect b="23864" l="0" r="0" t="23838"/>
          <a:stretch/>
        </p:blipFill>
        <p:spPr>
          <a:xfrm>
            <a:off x="4678750" y="1433375"/>
            <a:ext cx="4353375" cy="227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500" y="152400"/>
            <a:ext cx="4976094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9"/>
          <p:cNvPicPr preferRelativeResize="0"/>
          <p:nvPr/>
        </p:nvPicPr>
        <p:blipFill rotWithShape="1">
          <a:blip r:embed="rId4">
            <a:alphaModFix/>
          </a:blip>
          <a:srcRect b="9837" l="0" r="0" t="0"/>
          <a:stretch/>
        </p:blipFill>
        <p:spPr>
          <a:xfrm>
            <a:off x="307325" y="116188"/>
            <a:ext cx="3356925" cy="491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FLUXO E ORGANIZAÇ</a:t>
            </a:r>
            <a:r>
              <a:rPr lang="pt-BR"/>
              <a:t>ÕES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Organograma empresarial</a:t>
            </a:r>
            <a:endParaRPr/>
          </a:p>
        </p:txBody>
      </p:sp>
      <p:pic>
        <p:nvPicPr>
          <p:cNvPr id="105" name="Google Shape;10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1025" y="1170125"/>
            <a:ext cx="7641951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</a:t>
            </a:r>
            <a:r>
              <a:rPr lang="pt-BR"/>
              <a:t>luxograma de processo de vendas</a:t>
            </a:r>
            <a:endParaRPr/>
          </a:p>
        </p:txBody>
      </p:sp>
      <p:pic>
        <p:nvPicPr>
          <p:cNvPr id="111" name="Google Shape;11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538" y="1170125"/>
            <a:ext cx="5734918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490250" y="526350"/>
            <a:ext cx="7360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</a:t>
            </a:r>
            <a:r>
              <a:rPr lang="pt-BR"/>
              <a:t>ÁTICA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INTERMEDIÁRIA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CART</a:t>
            </a:r>
            <a:r>
              <a:rPr lang="pt-BR"/>
              <a:t>ÃO DE VISITA</a:t>
            </a:r>
            <a:endParaRPr/>
          </a:p>
        </p:txBody>
      </p:sp>
      <p:sp>
        <p:nvSpPr>
          <p:cNvPr id="122" name="Google Shape;122;p24"/>
          <p:cNvSpPr txBox="1"/>
          <p:nvPr/>
        </p:nvSpPr>
        <p:spPr>
          <a:xfrm>
            <a:off x="6398400" y="325350"/>
            <a:ext cx="2745600" cy="37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Alfa Slab One"/>
                <a:ea typeface="Alfa Slab One"/>
                <a:cs typeface="Alfa Slab One"/>
                <a:sym typeface="Alfa Slab One"/>
              </a:rPr>
              <a:t>FERRAMENTAS DESSA PRÁTICA:</a:t>
            </a:r>
            <a:endParaRPr sz="1800">
              <a:solidFill>
                <a:schemeClr val="dk2"/>
              </a:solidFill>
              <a:latin typeface="Alfa Slab One"/>
              <a:ea typeface="Alfa Slab One"/>
              <a:cs typeface="Alfa Slab One"/>
              <a:sym typeface="Alfa Slab On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Alfa Slab One"/>
              <a:ea typeface="Alfa Slab One"/>
              <a:cs typeface="Alfa Slab One"/>
              <a:sym typeface="Alfa Slab On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lfa Slab One"/>
              <a:buChar char="❏"/>
            </a:pPr>
            <a:r>
              <a:rPr lang="pt-BR" sz="1800">
                <a:solidFill>
                  <a:schemeClr val="dk2"/>
                </a:solidFill>
                <a:latin typeface="Alfa Slab One"/>
                <a:ea typeface="Alfa Slab One"/>
                <a:cs typeface="Alfa Slab One"/>
                <a:sym typeface="Alfa Slab One"/>
              </a:rPr>
              <a:t>PÁGINA EM MODO PAISAGEM</a:t>
            </a:r>
            <a:endParaRPr sz="1800">
              <a:solidFill>
                <a:schemeClr val="dk2"/>
              </a:solidFill>
              <a:latin typeface="Alfa Slab One"/>
              <a:ea typeface="Alfa Slab One"/>
              <a:cs typeface="Alfa Slab One"/>
              <a:sym typeface="Alfa Slab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Alfa Slab One"/>
              <a:ea typeface="Alfa Slab One"/>
              <a:cs typeface="Alfa Slab One"/>
              <a:sym typeface="Alfa Slab On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lfa Slab One"/>
              <a:buChar char="❏"/>
            </a:pPr>
            <a:r>
              <a:rPr lang="pt-BR" sz="1800">
                <a:solidFill>
                  <a:schemeClr val="dk2"/>
                </a:solidFill>
                <a:latin typeface="Alfa Slab One"/>
                <a:ea typeface="Alfa Slab One"/>
                <a:cs typeface="Alfa Slab One"/>
                <a:sym typeface="Alfa Slab One"/>
              </a:rPr>
              <a:t>CAIXAS DE TEXTOS</a:t>
            </a:r>
            <a:endParaRPr sz="1800">
              <a:solidFill>
                <a:schemeClr val="dk2"/>
              </a:solidFill>
              <a:latin typeface="Alfa Slab One"/>
              <a:ea typeface="Alfa Slab One"/>
              <a:cs typeface="Alfa Slab One"/>
              <a:sym typeface="Alfa Slab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Alfa Slab One"/>
              <a:ea typeface="Alfa Slab One"/>
              <a:cs typeface="Alfa Slab One"/>
              <a:sym typeface="Alfa Slab On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lfa Slab One"/>
              <a:buChar char="❏"/>
            </a:pPr>
            <a:r>
              <a:rPr lang="pt-BR" sz="1800">
                <a:solidFill>
                  <a:schemeClr val="dk2"/>
                </a:solidFill>
                <a:latin typeface="Alfa Slab One"/>
                <a:ea typeface="Alfa Slab One"/>
                <a:cs typeface="Alfa Slab One"/>
                <a:sym typeface="Alfa Slab One"/>
              </a:rPr>
              <a:t>FORMAS</a:t>
            </a:r>
            <a:endParaRPr sz="1800">
              <a:solidFill>
                <a:schemeClr val="dk2"/>
              </a:solidFill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pic>
        <p:nvPicPr>
          <p:cNvPr id="123" name="Google Shape;123;p24" title="ChatGPT Image 3 de abr. de 2026, 22_50_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093601" cy="37362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