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Proxima Nova"/>
      <p:regular r:id="rId21"/>
      <p:bold r:id="rId22"/>
      <p:italic r:id="rId23"/>
      <p:boldItalic r:id="rId24"/>
    </p:embeddedFont>
    <p:embeddedFont>
      <p:font typeface="Alfa Slab One"/>
      <p:regular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ProximaNova-bold.fntdata"/><Relationship Id="rId21" Type="http://schemas.openxmlformats.org/officeDocument/2006/relationships/font" Target="fonts/ProximaNova-regular.fntdata"/><Relationship Id="rId24" Type="http://schemas.openxmlformats.org/officeDocument/2006/relationships/font" Target="fonts/ProximaNova-boldItalic.fntdata"/><Relationship Id="rId23" Type="http://schemas.openxmlformats.org/officeDocument/2006/relationships/font" Target="fonts/ProximaNova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AlfaSlabOne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d47f0d949d_0_8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d47f0d949d_0_8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47f0d949d_0_8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47f0d949d_0_8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47f0d949d_2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47f0d949d_2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47f0d949d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47f0d949d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47f0d949d_0_7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d47f0d949d_0_7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47f0d949d_0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47f0d949d_0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47f0d949d_0_7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d47f0d949d_0_7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47f0d949d_0_7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47f0d949d_0_7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47f0d949d_0_7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d47f0d949d_0_7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47f0d949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47f0d949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47f0d949d_0_7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47f0d949d_0_7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d47f0d949d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d47f0d949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47f0d949d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d47f0d949d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47f0d949d_2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d47f0d949d_2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4278300" y="2751163"/>
            <a:ext cx="5874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959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roxima Nova"/>
              <a:buChar char="●"/>
              <a:defRPr sz="18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○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■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●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○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■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●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○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■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700" y="5959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ELEMENTOS VISUAIS NO MICROSOFT OFFICE</a:t>
            </a:r>
            <a:endParaRPr/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Eridhonson Oliveira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FORMAS GEOMÉTRICAS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0087" y="152400"/>
            <a:ext cx="3503827" cy="467177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/>
          <p:nvPr/>
        </p:nvSpPr>
        <p:spPr>
          <a:xfrm>
            <a:off x="6849000" y="636150"/>
            <a:ext cx="1867800" cy="1597200"/>
          </a:xfrm>
          <a:prstGeom prst="hexagon">
            <a:avLst>
              <a:gd fmla="val 28852" name="adj"/>
              <a:gd fmla="val 115470" name="vf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406050" y="527900"/>
            <a:ext cx="1732500" cy="1597200"/>
          </a:xfrm>
          <a:prstGeom prst="pentagon">
            <a:avLst>
              <a:gd fmla="val 105146" name="hf"/>
              <a:gd fmla="val 110557" name="vf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365400" y="3072550"/>
            <a:ext cx="1813800" cy="1678500"/>
          </a:xfrm>
          <a:prstGeom prst="heptagon">
            <a:avLst>
              <a:gd fmla="val 102572" name="hf"/>
              <a:gd fmla="val 105210" name="vf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6916650" y="3072550"/>
            <a:ext cx="1732500" cy="1678500"/>
          </a:xfrm>
          <a:prstGeom prst="octagon">
            <a:avLst>
              <a:gd fmla="val 29289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</a:t>
            </a:r>
            <a:r>
              <a:rPr lang="pt-BR"/>
              <a:t>ÁTICA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Desenho com Formas</a:t>
            </a:r>
            <a:endParaRPr/>
          </a:p>
        </p:txBody>
      </p:sp>
      <p:pic>
        <p:nvPicPr>
          <p:cNvPr id="82" name="Google Shape;82;p17"/>
          <p:cNvPicPr preferRelativeResize="0"/>
          <p:nvPr/>
        </p:nvPicPr>
        <p:blipFill rotWithShape="1">
          <a:blip r:embed="rId3">
            <a:alphaModFix/>
          </a:blip>
          <a:srcRect b="9134" l="31264" r="30840" t="8872"/>
          <a:stretch/>
        </p:blipFill>
        <p:spPr>
          <a:xfrm>
            <a:off x="162425" y="121825"/>
            <a:ext cx="1813750" cy="392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/>
          <p:cNvPicPr preferRelativeResize="0"/>
          <p:nvPr/>
        </p:nvPicPr>
        <p:blipFill rotWithShape="1">
          <a:blip r:embed="rId4">
            <a:alphaModFix/>
          </a:blip>
          <a:srcRect b="8794" l="2636" r="10354" t="8004"/>
          <a:stretch/>
        </p:blipFill>
        <p:spPr>
          <a:xfrm>
            <a:off x="2253341" y="231349"/>
            <a:ext cx="6638335" cy="3572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7"/>
          <p:cNvCxnSpPr/>
          <p:nvPr/>
        </p:nvCxnSpPr>
        <p:spPr>
          <a:xfrm>
            <a:off x="1976175" y="121825"/>
            <a:ext cx="27000" cy="3681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PLACAS E SINALIZAÇÕES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838700" cy="483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67425" y="152400"/>
            <a:ext cx="3447178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838701" cy="4838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20"/>
          <p:cNvPicPr preferRelativeResize="0"/>
          <p:nvPr/>
        </p:nvPicPr>
        <p:blipFill rotWithShape="1">
          <a:blip r:embed="rId4">
            <a:alphaModFix/>
          </a:blip>
          <a:srcRect b="23864" l="0" r="0" t="23838"/>
          <a:stretch/>
        </p:blipFill>
        <p:spPr>
          <a:xfrm>
            <a:off x="4678750" y="1433375"/>
            <a:ext cx="4353375" cy="227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7500" y="152400"/>
            <a:ext cx="4976094" cy="4838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1"/>
          <p:cNvPicPr preferRelativeResize="0"/>
          <p:nvPr/>
        </p:nvPicPr>
        <p:blipFill rotWithShape="1">
          <a:blip r:embed="rId4">
            <a:alphaModFix/>
          </a:blip>
          <a:srcRect b="9837" l="0" r="0" t="0"/>
          <a:stretch/>
        </p:blipFill>
        <p:spPr>
          <a:xfrm>
            <a:off x="307325" y="116188"/>
            <a:ext cx="3356925" cy="4911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FLUXO E ORGANIZAÇ</a:t>
            </a:r>
            <a:r>
              <a:rPr lang="pt-BR"/>
              <a:t>ÕES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Organograma empresarial</a:t>
            </a:r>
            <a:endParaRPr/>
          </a:p>
        </p:txBody>
      </p:sp>
      <p:pic>
        <p:nvPicPr>
          <p:cNvPr id="118" name="Google Shape;11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1025" y="1170125"/>
            <a:ext cx="7641951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</a:t>
            </a:r>
            <a:r>
              <a:rPr lang="pt-BR"/>
              <a:t>luxograma de processo de vendas</a:t>
            </a:r>
            <a:endParaRPr/>
          </a:p>
        </p:txBody>
      </p:sp>
      <p:pic>
        <p:nvPicPr>
          <p:cNvPr id="124" name="Google Shape;12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4538" y="1170125"/>
            <a:ext cx="5734918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490250" y="526350"/>
            <a:ext cx="7360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</a:t>
            </a:r>
            <a:r>
              <a:rPr lang="pt-BR"/>
              <a:t>ÁTICA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AVANÇADA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CART</a:t>
            </a:r>
            <a:r>
              <a:rPr lang="pt-BR"/>
              <a:t>ÃO DE VISITA</a:t>
            </a:r>
            <a:endParaRPr/>
          </a:p>
        </p:txBody>
      </p:sp>
      <p:sp>
        <p:nvSpPr>
          <p:cNvPr id="135" name="Google Shape;135;p26"/>
          <p:cNvSpPr txBox="1"/>
          <p:nvPr/>
        </p:nvSpPr>
        <p:spPr>
          <a:xfrm>
            <a:off x="6398400" y="325350"/>
            <a:ext cx="2745600" cy="37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2"/>
                </a:solidFill>
                <a:latin typeface="Alfa Slab One"/>
                <a:ea typeface="Alfa Slab One"/>
                <a:cs typeface="Alfa Slab One"/>
                <a:sym typeface="Alfa Slab One"/>
              </a:rPr>
              <a:t>FERRAMENTAS DESSA PRÁTICA:</a:t>
            </a:r>
            <a:endParaRPr sz="1800">
              <a:solidFill>
                <a:schemeClr val="dk2"/>
              </a:solidFill>
              <a:latin typeface="Alfa Slab One"/>
              <a:ea typeface="Alfa Slab One"/>
              <a:cs typeface="Alfa Slab One"/>
              <a:sym typeface="Alfa Slab One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Alfa Slab One"/>
              <a:ea typeface="Alfa Slab One"/>
              <a:cs typeface="Alfa Slab One"/>
              <a:sym typeface="Alfa Slab One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lfa Slab One"/>
              <a:buChar char="❏"/>
            </a:pPr>
            <a:r>
              <a:rPr lang="pt-BR" sz="1800">
                <a:solidFill>
                  <a:schemeClr val="dk2"/>
                </a:solidFill>
                <a:latin typeface="Alfa Slab One"/>
                <a:ea typeface="Alfa Slab One"/>
                <a:cs typeface="Alfa Slab One"/>
                <a:sym typeface="Alfa Slab One"/>
              </a:rPr>
              <a:t>PÁGINA EM MODO PAISAGEM</a:t>
            </a:r>
            <a:endParaRPr sz="1800">
              <a:solidFill>
                <a:schemeClr val="dk2"/>
              </a:solidFill>
              <a:latin typeface="Alfa Slab One"/>
              <a:ea typeface="Alfa Slab One"/>
              <a:cs typeface="Alfa Slab One"/>
              <a:sym typeface="Alfa Slab On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Alfa Slab One"/>
              <a:ea typeface="Alfa Slab One"/>
              <a:cs typeface="Alfa Slab One"/>
              <a:sym typeface="Alfa Slab One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lfa Slab One"/>
              <a:buChar char="❏"/>
            </a:pPr>
            <a:r>
              <a:rPr lang="pt-BR" sz="1800">
                <a:solidFill>
                  <a:schemeClr val="dk2"/>
                </a:solidFill>
                <a:latin typeface="Alfa Slab One"/>
                <a:ea typeface="Alfa Slab One"/>
                <a:cs typeface="Alfa Slab One"/>
                <a:sym typeface="Alfa Slab One"/>
              </a:rPr>
              <a:t>CAIXAS DE TEXTOS</a:t>
            </a:r>
            <a:endParaRPr sz="1800">
              <a:solidFill>
                <a:schemeClr val="dk2"/>
              </a:solidFill>
              <a:latin typeface="Alfa Slab One"/>
              <a:ea typeface="Alfa Slab One"/>
              <a:cs typeface="Alfa Slab One"/>
              <a:sym typeface="Alfa Slab On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Alfa Slab One"/>
              <a:ea typeface="Alfa Slab One"/>
              <a:cs typeface="Alfa Slab One"/>
              <a:sym typeface="Alfa Slab One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lfa Slab One"/>
              <a:buChar char="❏"/>
            </a:pPr>
            <a:r>
              <a:rPr lang="pt-BR" sz="1800">
                <a:solidFill>
                  <a:schemeClr val="dk2"/>
                </a:solidFill>
                <a:latin typeface="Alfa Slab One"/>
                <a:ea typeface="Alfa Slab One"/>
                <a:cs typeface="Alfa Slab One"/>
                <a:sym typeface="Alfa Slab One"/>
              </a:rPr>
              <a:t>FORMAS</a:t>
            </a:r>
            <a:endParaRPr sz="1800">
              <a:solidFill>
                <a:schemeClr val="dk2"/>
              </a:solidFill>
              <a:latin typeface="Alfa Slab One"/>
              <a:ea typeface="Alfa Slab One"/>
              <a:cs typeface="Alfa Slab One"/>
              <a:sym typeface="Alfa Slab One"/>
            </a:endParaRPr>
          </a:p>
        </p:txBody>
      </p:sp>
      <p:pic>
        <p:nvPicPr>
          <p:cNvPr id="136" name="Google Shape;136;p26" title="ChatGPT Image 3 de abr. de 2026, 22_50_1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093601" cy="3736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ameday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